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57" r:id="rId4"/>
    <p:sldId id="265" r:id="rId5"/>
    <p:sldId id="262" r:id="rId6"/>
    <p:sldId id="258" r:id="rId7"/>
    <p:sldId id="259" r:id="rId8"/>
    <p:sldId id="260" r:id="rId9"/>
    <p:sldId id="261" r:id="rId10"/>
    <p:sldId id="264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Geist" panose="020B0604020202020204" charset="-52"/>
      <p:regular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9D4747A-14A6-4634-8A47-379CD27141C4}">
          <p14:sldIdLst>
            <p14:sldId id="256"/>
            <p14:sldId id="263"/>
            <p14:sldId id="257"/>
          </p14:sldIdLst>
        </p14:section>
        <p14:section name="Раздел без заголовка" id="{628D3AEF-9BE5-4E8B-ACC6-7A7ECD5B7C8A}">
          <p14:sldIdLst>
            <p14:sldId id="265"/>
            <p14:sldId id="262"/>
          </p14:sldIdLst>
        </p14:section>
        <p14:section name="Раздел без заголовка" id="{C042DF00-8E8E-426D-967B-99D8DB857C07}">
          <p14:sldIdLst>
            <p14:sldId id="258"/>
            <p14:sldId id="259"/>
            <p14:sldId id="260"/>
            <p14:sldId id="261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64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969" y="2612573"/>
            <a:ext cx="13042821" cy="3839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700"/>
              </a:lnSpc>
              <a:buNone/>
            </a:pPr>
            <a:r>
              <a:rPr lang="en-US" sz="10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GameTranslator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130969" y="4399417"/>
            <a:ext cx="12380000" cy="111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Решение для внутриигрового перевода на базе ИИ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30968" y="5995354"/>
            <a:ext cx="13042821" cy="950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5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Реальный перевод игровых диалогов и интерфейса во время </a:t>
            </a:r>
            <a:r>
              <a:rPr lang="en-US" sz="2500" i="1" dirty="0" err="1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игры</a:t>
            </a:r>
            <a:r>
              <a:rPr lang="en-US" sz="25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ru-RU" sz="2500" i="1" dirty="0">
              <a:solidFill>
                <a:srgbClr val="4B4A4A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295BA3-1F58-485F-AB51-C2708D01253B}"/>
              </a:ext>
            </a:extLst>
          </p:cNvPr>
          <p:cNvSpPr txBox="1"/>
          <p:nvPr/>
        </p:nvSpPr>
        <p:spPr>
          <a:xfrm>
            <a:off x="10897467" y="363808"/>
            <a:ext cx="33745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ЭФБО 08-23</a:t>
            </a:r>
            <a:b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</a:br>
            <a: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Команда №6 </a:t>
            </a:r>
            <a:b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</a:br>
            <a:r>
              <a:rPr lang="ru-RU" dirty="0" err="1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Стецко</a:t>
            </a:r>
            <a: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 Антон</a:t>
            </a:r>
            <a:b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</a:br>
            <a: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Хаустов Андрей</a:t>
            </a:r>
            <a:b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</a:br>
            <a: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Некипелов Матвей</a:t>
            </a:r>
            <a:br>
              <a:rPr lang="ru-RU" dirty="0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</a:br>
            <a:r>
              <a:rPr lang="ru-RU" dirty="0" err="1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Шахназарян</a:t>
            </a:r>
            <a:r>
              <a:rPr lang="ru-RU"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 Гамлет</a:t>
            </a:r>
            <a:endParaRPr lang="ru-RU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744" y="1275993"/>
            <a:ext cx="6888599" cy="55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Целевой сегмент и проблема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16744" y="2032159"/>
            <a:ext cx="3886795" cy="2642592"/>
          </a:xfrm>
          <a:prstGeom prst="roundRect">
            <a:avLst>
              <a:gd name="adj" fmla="val 6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0576" y="2215991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006747"/>
          </a:solidFill>
          <a:ln/>
        </p:spPr>
      </p:sp>
      <p:sp>
        <p:nvSpPr>
          <p:cNvPr id="6" name="Text 3"/>
          <p:cNvSpPr/>
          <p:nvPr/>
        </p:nvSpPr>
        <p:spPr>
          <a:xfrm>
            <a:off x="800576" y="2881551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Целевой сегмент: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0576" y="3238976"/>
            <a:ext cx="3519130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Геймеры, увлеченные иностранными играми, которые не полностью переведены на их родной язык или имеют низкокачественный перевод.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40461" y="2032159"/>
            <a:ext cx="3886795" cy="2642592"/>
          </a:xfrm>
          <a:prstGeom prst="roundRect">
            <a:avLst>
              <a:gd name="adj" fmla="val 6002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24293" y="2215991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006747"/>
          </a:solidFill>
          <a:ln/>
        </p:spPr>
      </p:sp>
      <p:sp>
        <p:nvSpPr>
          <p:cNvPr id="10" name="Text 7"/>
          <p:cNvSpPr/>
          <p:nvPr/>
        </p:nvSpPr>
        <p:spPr>
          <a:xfrm>
            <a:off x="4824293" y="2881551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Сценарий: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824293" y="3238976"/>
            <a:ext cx="3519130" cy="125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Игрок сталкивается с незнакомым языком в ключевых диалогах, элементах интерфейса, квестах или внутриигровых документах, что затрудняет понимание.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6744" y="4811673"/>
            <a:ext cx="7910512" cy="2141815"/>
          </a:xfrm>
          <a:prstGeom prst="roundRect">
            <a:avLst>
              <a:gd name="adj" fmla="val 7406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0576" y="4995505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006747"/>
          </a:solidFill>
          <a:ln/>
        </p:spPr>
      </p:sp>
      <p:sp>
        <p:nvSpPr>
          <p:cNvPr id="14" name="Text 11"/>
          <p:cNvSpPr/>
          <p:nvPr/>
        </p:nvSpPr>
        <p:spPr>
          <a:xfrm>
            <a:off x="800576" y="5661065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Проблема: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0576" y="6018490"/>
            <a:ext cx="7542848" cy="751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Невозможность полностью насладиться игровым процессом, потеря важных сюжетных нюансов и снижение общей вовлеченности из-за непреодолимого языкового барьера.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993" y="1278969"/>
            <a:ext cx="7513915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Конкуренты и альтернативы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01993" y="2201942"/>
            <a:ext cx="13226296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 рынке существует множество подходов к переводу игрового контента, каждый из которых имеет свои преимущества и недостатки. Мы проанализировали основные решения, чтобы показать, где GameTranslator выделяется.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1993" y="2949893"/>
            <a:ext cx="13226296" cy="3252787"/>
          </a:xfrm>
          <a:prstGeom prst="roundRect">
            <a:avLst>
              <a:gd name="adj" fmla="val 530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9613" y="2957513"/>
            <a:ext cx="13211056" cy="492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01660" y="3062288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47586" y="3062288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Тип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89702" y="3062288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Скорость перевода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31818" y="3062288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Качество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73934" y="3062288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Интеграция с играми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9613" y="3449955"/>
            <a:ext cx="13211056" cy="492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01660" y="3554730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Google Translate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586" y="3554730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Веб-сервис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89702" y="3554730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Медленно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31818" y="3554730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Среднее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73934" y="3554730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9613" y="3942398"/>
            <a:ext cx="13211056" cy="492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01660" y="4047173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47586" y="4047173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Веб-сервис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89702" y="4047173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Быстро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31818" y="4047173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Высокое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73934" y="4047173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09613" y="4434840"/>
            <a:ext cx="13211056" cy="492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01660" y="4539615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Ручной перевод модов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47586" y="4539615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Сообщество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89702" y="4539615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Очень медленно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31818" y="4539615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Высокое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73934" y="4539615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Да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09613" y="4927283"/>
            <a:ext cx="13211056" cy="7753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1660" y="5032058"/>
            <a:ext cx="2255163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Встроенные переводы игр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47586" y="5032058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Встроенное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89702" y="5032058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Мгновенно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31818" y="5032058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Среднее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73934" y="5032058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Да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09613" y="5702618"/>
            <a:ext cx="13211056" cy="492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01660" y="5807393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GameTranslator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547586" y="5807393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AI-сервис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189702" y="5807393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Мгновенно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31818" y="5807393"/>
            <a:ext cx="225135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Высокое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1473934" y="5807393"/>
            <a:ext cx="225516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Да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1993" y="6384846"/>
            <a:ext cx="13226296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GameTranslator сочетает в себе мгновенную скорость и глубокую интеграцию, обеспечивая при этом высочайшее качество перевода благодаря передовым технологиям ИИ.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C6E2A7-3928-4E29-A2E6-317804C36BE3}"/>
              </a:ext>
            </a:extLst>
          </p:cNvPr>
          <p:cNvSpPr txBox="1"/>
          <p:nvPr/>
        </p:nvSpPr>
        <p:spPr>
          <a:xfrm>
            <a:off x="1727200" y="762000"/>
            <a:ext cx="1117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Maverik OCR Helper</a:t>
            </a:r>
            <a:endParaRPr lang="en-US" sz="4000" b="1" i="0" dirty="0">
              <a:solidFill>
                <a:srgbClr val="333333"/>
              </a:solidFill>
              <a:effectLst/>
              <a:latin typeface="Roboto" panose="020B0604020202020204" pitchFamily="2" charset="0"/>
            </a:endParaRPr>
          </a:p>
          <a:p>
            <a:pPr algn="ctr"/>
            <a:endParaRPr lang="ru-RU" sz="4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DFE8DB-22DF-4E44-932C-65CB221F4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71" y="1843483"/>
            <a:ext cx="7661714" cy="4300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2FED3A-E194-4CBB-90CA-349A75AC22FA}"/>
              </a:ext>
            </a:extLst>
          </p:cNvPr>
          <p:cNvSpPr txBox="1"/>
          <p:nvPr/>
        </p:nvSpPr>
        <p:spPr>
          <a:xfrm>
            <a:off x="8831943" y="2254884"/>
            <a:ext cx="568234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0" i="0" dirty="0">
                <a:solidFill>
                  <a:srgbClr val="000000"/>
                </a:solidFill>
                <a:effectLst/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Точность у этой программы не самая высокая, поскольку для перевода используется Google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Translate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 и изменить это никак нельзя. А еще эта модель не справляется с распознаванием инициала (буквицы) — стилизованной первой буквы текста. И поэтому перевод немного испортился. К тому же из-за Google-переводчика в тексте появились слова которые не подходят по контексту, например - «истребител</a:t>
            </a:r>
            <a:r>
              <a:rPr lang="ru-RU" sz="2000" dirty="0">
                <a:solidFill>
                  <a:srgbClr val="000000"/>
                </a:solidFill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ь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Geist" panose="020B0604020202020204" charset="-52"/>
                <a:ea typeface="Geist" panose="020B0604020202020204" charset="-52"/>
                <a:cs typeface="Geist" panose="020B0604020202020204" charset="-52"/>
              </a:rPr>
              <a:t>»</a:t>
            </a:r>
            <a:endParaRPr lang="ru-RU" sz="2000" dirty="0">
              <a:latin typeface="Geist" panose="020B0604020202020204" charset="-52"/>
              <a:ea typeface="Geist" panose="020B0604020202020204" charset="-52"/>
              <a:cs typeface="Geist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9345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795" y="1266825"/>
            <a:ext cx="10610374" cy="517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Топ-7 критериев выбора решения для перевода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600795" y="1965722"/>
            <a:ext cx="11428809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При выборе оптимального инструмента для перевода внутриигрового контента важно учитывать несколько ключевых факторов, чтобы обеспечить наилучший опыт для игроков.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00795" y="2560082"/>
            <a:ext cx="165616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0795" y="2818567"/>
            <a:ext cx="3729038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6" name="Text 4"/>
          <p:cNvSpPr/>
          <p:nvPr/>
        </p:nvSpPr>
        <p:spPr>
          <a:xfrm>
            <a:off x="1600795" y="2947035"/>
            <a:ext cx="2109311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Скорость перевода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795" y="3278267"/>
            <a:ext cx="372903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Обеспечивает перевод в реальном времени, не прерывая игровой процесс.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50681" y="2560082"/>
            <a:ext cx="165616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50681" y="2818567"/>
            <a:ext cx="3729038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0" name="Text 8"/>
          <p:cNvSpPr/>
          <p:nvPr/>
        </p:nvSpPr>
        <p:spPr>
          <a:xfrm>
            <a:off x="5450681" y="2947035"/>
            <a:ext cx="2095024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Качество перевода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50681" y="3278267"/>
            <a:ext cx="3729038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Гарантирует точный и контекстуально верный перевод, сохраняя оригинальный смысл и стиль диалогов.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00567" y="2560082"/>
            <a:ext cx="165616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00567" y="2818567"/>
            <a:ext cx="3729038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4" name="Text 12"/>
          <p:cNvSpPr/>
          <p:nvPr/>
        </p:nvSpPr>
        <p:spPr>
          <a:xfrm>
            <a:off x="9300567" y="2947035"/>
            <a:ext cx="3389590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Поддержка множества языков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00567" y="3278267"/>
            <a:ext cx="372903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Широкий охват языков для глобальной аудитории игроков.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795" y="4210883"/>
            <a:ext cx="165616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00795" y="4469368"/>
            <a:ext cx="3729038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795" y="4597837"/>
            <a:ext cx="372903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Интеграция с игровыми платформами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795" y="5187791"/>
            <a:ext cx="372903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Бесшовная работа с популярными игровыми платформами и движками.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50681" y="4210883"/>
            <a:ext cx="165616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50681" y="4469368"/>
            <a:ext cx="3729038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2" name="Text 20"/>
          <p:cNvSpPr/>
          <p:nvPr/>
        </p:nvSpPr>
        <p:spPr>
          <a:xfrm>
            <a:off x="5450681" y="4597837"/>
            <a:ext cx="2070378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Стоимость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50681" y="4929068"/>
            <a:ext cx="3729038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Разумная ценовая политика, делающая решение доступным для широкого круга геймеров.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0567" y="4210883"/>
            <a:ext cx="165616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00567" y="4469368"/>
            <a:ext cx="3729038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6" name="Text 24"/>
          <p:cNvSpPr/>
          <p:nvPr/>
        </p:nvSpPr>
        <p:spPr>
          <a:xfrm>
            <a:off x="9300567" y="4597837"/>
            <a:ext cx="3551039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Точность распознавания текста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00567" y="4929068"/>
            <a:ext cx="3729038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Эффективное распознавание внутриигрового текста, включая различные шрифты и форматы.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795" y="5891213"/>
            <a:ext cx="165616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600795" y="6149697"/>
            <a:ext cx="11428809" cy="2286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30" name="Text 28"/>
          <p:cNvSpPr/>
          <p:nvPr/>
        </p:nvSpPr>
        <p:spPr>
          <a:xfrm>
            <a:off x="1600795" y="6278166"/>
            <a:ext cx="2600801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Поддержка жанров игр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00795" y="6609398"/>
            <a:ext cx="1142880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Способность адаптироваться к разным жанрам, от RPG до стратегий, учитывая специфическую терминологию.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471" y="840819"/>
            <a:ext cx="9819561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Наше конкурентное преимущество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7471" y="1851898"/>
            <a:ext cx="13195459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GameTranslator предлагает уникальное решение, превосходящее конкурентов по ключевым параметрам, обеспечивая бесшовный и качественный игровой процесс.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7471" y="2992041"/>
            <a:ext cx="6505099" cy="2108121"/>
          </a:xfrm>
          <a:prstGeom prst="roundRect">
            <a:avLst>
              <a:gd name="adj" fmla="val 5205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7471" y="2969181"/>
            <a:ext cx="6505099" cy="91440"/>
          </a:xfrm>
          <a:prstGeom prst="roundRect">
            <a:avLst>
              <a:gd name="adj" fmla="val 201771"/>
            </a:avLst>
          </a:prstGeom>
          <a:solidFill>
            <a:srgbClr val="006747"/>
          </a:solidFill>
          <a:ln/>
        </p:spPr>
      </p:sp>
      <p:sp>
        <p:nvSpPr>
          <p:cNvPr id="6" name="Shape 4"/>
          <p:cNvSpPr/>
          <p:nvPr/>
        </p:nvSpPr>
        <p:spPr>
          <a:xfrm>
            <a:off x="3662541" y="2684621"/>
            <a:ext cx="614958" cy="614958"/>
          </a:xfrm>
          <a:prstGeom prst="roundRect">
            <a:avLst>
              <a:gd name="adj" fmla="val 148693"/>
            </a:avLst>
          </a:prstGeom>
          <a:solidFill>
            <a:srgbClr val="006747"/>
          </a:solidFill>
          <a:ln/>
        </p:spPr>
      </p:sp>
      <p:sp>
        <p:nvSpPr>
          <p:cNvPr id="7" name="Text 5"/>
          <p:cNvSpPr/>
          <p:nvPr/>
        </p:nvSpPr>
        <p:spPr>
          <a:xfrm>
            <a:off x="3846969" y="2838331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45237" y="3504486"/>
            <a:ext cx="295620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Глубокая интеграция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5237" y="3935849"/>
            <a:ext cx="6049566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Перевод непосредственно в игре без необходимости переключаться между окнами, что обеспечивает полное погружение.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7831" y="2992041"/>
            <a:ext cx="6505099" cy="2108121"/>
          </a:xfrm>
          <a:prstGeom prst="roundRect">
            <a:avLst>
              <a:gd name="adj" fmla="val 5205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07831" y="2969181"/>
            <a:ext cx="6505099" cy="91440"/>
          </a:xfrm>
          <a:prstGeom prst="roundRect">
            <a:avLst>
              <a:gd name="adj" fmla="val 201771"/>
            </a:avLst>
          </a:prstGeom>
          <a:solidFill>
            <a:srgbClr val="00674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52901" y="2684621"/>
            <a:ext cx="614958" cy="614958"/>
          </a:xfrm>
          <a:prstGeom prst="roundRect">
            <a:avLst>
              <a:gd name="adj" fmla="val 148693"/>
            </a:avLst>
          </a:prstGeom>
          <a:solidFill>
            <a:srgbClr val="00674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37329" y="2838331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35597" y="3504486"/>
            <a:ext cx="3052524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Игровой ИИ-контекст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35597" y="3935849"/>
            <a:ext cx="6049566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Специализированный ИИ обучен понимать игровой сленг и контекст, что гарантирует адекватный и точный перевод.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7471" y="5592842"/>
            <a:ext cx="6505099" cy="1795939"/>
          </a:xfrm>
          <a:prstGeom prst="roundRect">
            <a:avLst>
              <a:gd name="adj" fmla="val 6110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471" y="5569982"/>
            <a:ext cx="6505099" cy="91440"/>
          </a:xfrm>
          <a:prstGeom prst="roundRect">
            <a:avLst>
              <a:gd name="adj" fmla="val 201771"/>
            </a:avLst>
          </a:prstGeom>
          <a:solidFill>
            <a:srgbClr val="006747"/>
          </a:solidFill>
          <a:ln/>
        </p:spPr>
      </p:sp>
      <p:sp>
        <p:nvSpPr>
          <p:cNvPr id="18" name="Shape 16"/>
          <p:cNvSpPr/>
          <p:nvPr/>
        </p:nvSpPr>
        <p:spPr>
          <a:xfrm>
            <a:off x="3662541" y="5285423"/>
            <a:ext cx="614958" cy="614958"/>
          </a:xfrm>
          <a:prstGeom prst="roundRect">
            <a:avLst>
              <a:gd name="adj" fmla="val 148693"/>
            </a:avLst>
          </a:prstGeom>
          <a:solidFill>
            <a:srgbClr val="006747"/>
          </a:solidFill>
          <a:ln/>
        </p:spPr>
      </p:sp>
      <p:sp>
        <p:nvSpPr>
          <p:cNvPr id="19" name="Text 17"/>
          <p:cNvSpPr/>
          <p:nvPr/>
        </p:nvSpPr>
        <p:spPr>
          <a:xfrm>
            <a:off x="3846969" y="5439132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45237" y="6105287"/>
            <a:ext cx="2992160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Мгновенный перевод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45237" y="6536650"/>
            <a:ext cx="6049566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Технология реального времени устраняет задержки, делая диалоги и интерфейс доступными моментально.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07831" y="5592842"/>
            <a:ext cx="6505099" cy="1795939"/>
          </a:xfrm>
          <a:prstGeom prst="roundRect">
            <a:avLst>
              <a:gd name="adj" fmla="val 6110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07831" y="5569982"/>
            <a:ext cx="6505099" cy="91440"/>
          </a:xfrm>
          <a:prstGeom prst="roundRect">
            <a:avLst>
              <a:gd name="adj" fmla="val 201771"/>
            </a:avLst>
          </a:prstGeom>
          <a:solidFill>
            <a:srgbClr val="00674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52901" y="5285423"/>
            <a:ext cx="614958" cy="614958"/>
          </a:xfrm>
          <a:prstGeom prst="roundRect">
            <a:avLst>
              <a:gd name="adj" fmla="val 148693"/>
            </a:avLst>
          </a:prstGeom>
          <a:solidFill>
            <a:srgbClr val="006747"/>
          </a:solidFill>
          <a:ln/>
        </p:spPr>
      </p:sp>
      <p:sp>
        <p:nvSpPr>
          <p:cNvPr id="25" name="Text 23"/>
          <p:cNvSpPr/>
          <p:nvPr/>
        </p:nvSpPr>
        <p:spPr>
          <a:xfrm>
            <a:off x="10537329" y="5439132"/>
            <a:ext cx="24598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635597" y="6105287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Сохранение стиля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35597" y="6536650"/>
            <a:ext cx="6049566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ИИ адаптирует перевод, чтобы сохранить оригинальный тон, юмор и стиль диалогов, важные для атмосферы игры.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152"/>
            <a:ext cx="66801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Стратегия валидации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0855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Для обеспечения успешного запуска GameTranslator мы разработали комплексный план проверки ключевых гипотез, охватывающий как потребность рынка, так и техническую реализуемость.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89515"/>
            <a:ext cx="9878863" cy="4793933"/>
          </a:xfrm>
          <a:prstGeom prst="roundRect">
            <a:avLst>
              <a:gd name="adj" fmla="val 42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0906" y="2797135"/>
            <a:ext cx="101017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294084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Гипотеза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294084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Критерий успеха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294084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Метод проверки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294084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1" y="3447455"/>
            <a:ext cx="9871242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3591163"/>
            <a:ext cx="279939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Геймеры хотят переводить игры в реальном времени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359116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Спрос на продукт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3591163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Опрос целевой аудитории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3591163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1" y="4823579"/>
            <a:ext cx="9871242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4967288"/>
            <a:ext cx="279939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Качество перевода достаточно для игрового контекста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4967288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Удовлетворенность пользователей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4967288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Тестирование с фокус-группой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496728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199703"/>
            <a:ext cx="9871243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6343412"/>
            <a:ext cx="279939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Интеграция с платформами технически возможна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6343412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Техническая реализуемость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634341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Прототипирование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6343412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9208" y="655201"/>
            <a:ext cx="8298775" cy="45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Минимальный жизнеспособный продукт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239208" y="1305758"/>
            <a:ext cx="10151983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Первая версия GameTranslator будет сосредоточена на ключевых функциях для обеспечения базовой ценности, предоставляя игрокам мгновенный и качественный перевод.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39208" y="1794807"/>
            <a:ext cx="1062793" cy="1401009"/>
          </a:xfrm>
          <a:prstGeom prst="roundRect">
            <a:avLst>
              <a:gd name="adj" fmla="val 36000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05288" y="2354325"/>
            <a:ext cx="220623" cy="367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6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54499" y="2354325"/>
            <a:ext cx="946808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Распознавание текста в игре (OCR)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95699" y="4118154"/>
            <a:ext cx="946808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Перевод диалогов в реальном времени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23160" y="4060746"/>
            <a:ext cx="22062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54499" y="6098739"/>
            <a:ext cx="946808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Перевод интерфейса игры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9473" y="2268154"/>
            <a:ext cx="946808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Поддержка 5 основных языков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23160" y="6016943"/>
            <a:ext cx="22062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99473" y="4147562"/>
            <a:ext cx="946808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Интеграция с популярными платформами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99473" y="5960805"/>
            <a:ext cx="946808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Настройка текста перевода</a:t>
            </a:r>
            <a:endParaRPr lang="en-US" sz="16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16B92B33-3B1C-4D77-B9CD-401F6FFBE952}"/>
              </a:ext>
            </a:extLst>
          </p:cNvPr>
          <p:cNvSpPr/>
          <p:nvPr/>
        </p:nvSpPr>
        <p:spPr>
          <a:xfrm>
            <a:off x="7525061" y="1794807"/>
            <a:ext cx="1062793" cy="1401009"/>
          </a:xfrm>
          <a:prstGeom prst="roundRect">
            <a:avLst>
              <a:gd name="adj" fmla="val 36000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31E2A1B8-0A7C-4810-91E0-815EFB6639CD}"/>
              </a:ext>
            </a:extLst>
          </p:cNvPr>
          <p:cNvSpPr/>
          <p:nvPr/>
        </p:nvSpPr>
        <p:spPr>
          <a:xfrm>
            <a:off x="2239208" y="3520876"/>
            <a:ext cx="1062793" cy="1401009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BB931CF4-6268-4D1C-922B-7BCBFD805DC7}"/>
              </a:ext>
            </a:extLst>
          </p:cNvPr>
          <p:cNvSpPr/>
          <p:nvPr/>
        </p:nvSpPr>
        <p:spPr>
          <a:xfrm>
            <a:off x="7525062" y="3520876"/>
            <a:ext cx="1062793" cy="1401009"/>
          </a:xfrm>
          <a:prstGeom prst="roundRect">
            <a:avLst>
              <a:gd name="adj" fmla="val 36000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418ABACF-825F-4996-A769-35E98DEFE3A8}"/>
              </a:ext>
            </a:extLst>
          </p:cNvPr>
          <p:cNvSpPr/>
          <p:nvPr/>
        </p:nvSpPr>
        <p:spPr>
          <a:xfrm>
            <a:off x="2234541" y="5293997"/>
            <a:ext cx="1062793" cy="1401009"/>
          </a:xfrm>
          <a:prstGeom prst="roundRect">
            <a:avLst>
              <a:gd name="adj" fmla="val 36000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92925E30-893B-461A-BAB2-08BD911345B4}"/>
              </a:ext>
            </a:extLst>
          </p:cNvPr>
          <p:cNvSpPr/>
          <p:nvPr/>
        </p:nvSpPr>
        <p:spPr>
          <a:xfrm>
            <a:off x="7525062" y="5296465"/>
            <a:ext cx="1062793" cy="1401009"/>
          </a:xfrm>
          <a:prstGeom prst="roundRect">
            <a:avLst>
              <a:gd name="adj" fmla="val 36000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05BA24-AA74-44E9-8A3E-3FA9A1D00240}"/>
              </a:ext>
            </a:extLst>
          </p:cNvPr>
          <p:cNvSpPr txBox="1"/>
          <p:nvPr/>
        </p:nvSpPr>
        <p:spPr>
          <a:xfrm>
            <a:off x="2579341" y="3982852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2</a:t>
            </a:r>
            <a:endParaRPr lang="ru-RU" sz="25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7A4AD8-6D39-4D63-A514-9C891F705D77}"/>
              </a:ext>
            </a:extLst>
          </p:cNvPr>
          <p:cNvSpPr txBox="1"/>
          <p:nvPr/>
        </p:nvSpPr>
        <p:spPr>
          <a:xfrm>
            <a:off x="2624225" y="585548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3</a:t>
            </a:r>
            <a:endParaRPr lang="ru-RU" sz="25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A8E5CB-E744-418E-93A4-3AD7CD13618C}"/>
              </a:ext>
            </a:extLst>
          </p:cNvPr>
          <p:cNvSpPr txBox="1"/>
          <p:nvPr/>
        </p:nvSpPr>
        <p:spPr>
          <a:xfrm>
            <a:off x="7878713" y="215703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4</a:t>
            </a:r>
            <a:endParaRPr lang="ru-RU" sz="25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1ADE1A-EBA3-4BE8-AD46-8E6B2A6A4277}"/>
              </a:ext>
            </a:extLst>
          </p:cNvPr>
          <p:cNvSpPr txBox="1"/>
          <p:nvPr/>
        </p:nvSpPr>
        <p:spPr>
          <a:xfrm>
            <a:off x="7883173" y="3984011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5</a:t>
            </a:r>
            <a:endParaRPr lang="ru-RU" sz="25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757EF4-A6BC-4051-88CC-9D2C8889E593}"/>
              </a:ext>
            </a:extLst>
          </p:cNvPr>
          <p:cNvSpPr txBox="1"/>
          <p:nvPr/>
        </p:nvSpPr>
        <p:spPr>
          <a:xfrm>
            <a:off x="7883173" y="579124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6</a:t>
            </a:r>
            <a:endParaRPr lang="ru-RU" sz="25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7449" y="1128236"/>
            <a:ext cx="8049101" cy="977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Ценностное предложение GameTranslator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47449" y="2267783"/>
            <a:ext cx="8049101" cy="63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Геймеры смогут полностью насладиться иностранными играми благодаря мгновенному, высококачественному переводу прямо во время игры, без необходимости прерывать игровой процесс или использовать внешние инструменты.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7449" y="3023473"/>
            <a:ext cx="8049101" cy="938570"/>
          </a:xfrm>
          <a:prstGeom prst="roundRect">
            <a:avLst>
              <a:gd name="adj" fmla="val 15000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0309" y="3046333"/>
            <a:ext cx="625673" cy="892850"/>
          </a:xfrm>
          <a:prstGeom prst="roundRect">
            <a:avLst>
              <a:gd name="adj" fmla="val 18118"/>
            </a:avLst>
          </a:prstGeom>
          <a:solidFill>
            <a:srgbClr val="D1EFE4"/>
          </a:solidFill>
          <a:ln/>
        </p:spPr>
      </p:sp>
      <p:sp>
        <p:nvSpPr>
          <p:cNvPr id="7" name="Text 4"/>
          <p:cNvSpPr/>
          <p:nvPr/>
        </p:nvSpPr>
        <p:spPr>
          <a:xfrm>
            <a:off x="1303853" y="3202662"/>
            <a:ext cx="2284095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Мгновенный перевод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03853" y="3511629"/>
            <a:ext cx="7113508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Вся информация переводится в реальном времени.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7449" y="4069913"/>
            <a:ext cx="8049101" cy="938570"/>
          </a:xfrm>
          <a:prstGeom prst="roundRect">
            <a:avLst>
              <a:gd name="adj" fmla="val 15000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0309" y="4092773"/>
            <a:ext cx="625673" cy="892850"/>
          </a:xfrm>
          <a:prstGeom prst="roundRect">
            <a:avLst>
              <a:gd name="adj" fmla="val 18118"/>
            </a:avLst>
          </a:prstGeom>
          <a:solidFill>
            <a:srgbClr val="D1EFE4"/>
          </a:solidFill>
          <a:ln/>
        </p:spPr>
      </p:sp>
      <p:sp>
        <p:nvSpPr>
          <p:cNvPr id="11" name="Text 8"/>
          <p:cNvSpPr/>
          <p:nvPr/>
        </p:nvSpPr>
        <p:spPr>
          <a:xfrm>
            <a:off x="1303853" y="4249103"/>
            <a:ext cx="1999059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Погружение в игру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3853" y="4558070"/>
            <a:ext cx="7113508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Сохранение атмосферы и контекста игрового мира.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7449" y="5116354"/>
            <a:ext cx="8049101" cy="938570"/>
          </a:xfrm>
          <a:prstGeom prst="roundRect">
            <a:avLst>
              <a:gd name="adj" fmla="val 15000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0309" y="5139214"/>
            <a:ext cx="625673" cy="892850"/>
          </a:xfrm>
          <a:prstGeom prst="roundRect">
            <a:avLst>
              <a:gd name="adj" fmla="val 18118"/>
            </a:avLst>
          </a:prstGeom>
          <a:solidFill>
            <a:srgbClr val="D1EFE4"/>
          </a:solidFill>
          <a:ln/>
        </p:spPr>
      </p:sp>
      <p:sp>
        <p:nvSpPr>
          <p:cNvPr id="15" name="Text 12"/>
          <p:cNvSpPr/>
          <p:nvPr/>
        </p:nvSpPr>
        <p:spPr>
          <a:xfrm>
            <a:off x="1303853" y="5295543"/>
            <a:ext cx="2651046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Широкая совместимость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03853" y="5604510"/>
            <a:ext cx="7113508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Поддержка всех популярных платформ и игровых жанров.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7449" y="6162794"/>
            <a:ext cx="8049101" cy="938570"/>
          </a:xfrm>
          <a:prstGeom prst="roundRect">
            <a:avLst>
              <a:gd name="adj" fmla="val 15000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0309" y="6185654"/>
            <a:ext cx="625673" cy="892850"/>
          </a:xfrm>
          <a:prstGeom prst="roundRect">
            <a:avLst>
              <a:gd name="adj" fmla="val 18118"/>
            </a:avLst>
          </a:prstGeom>
          <a:solidFill>
            <a:srgbClr val="D1EFE4"/>
          </a:solidFill>
          <a:ln/>
        </p:spPr>
      </p:sp>
      <p:sp>
        <p:nvSpPr>
          <p:cNvPr id="19" name="Text 16"/>
          <p:cNvSpPr/>
          <p:nvPr/>
        </p:nvSpPr>
        <p:spPr>
          <a:xfrm>
            <a:off x="1303853" y="6341983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Доступная цена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03853" y="6650950"/>
            <a:ext cx="7113508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Ориентировано на широкую аудиторию геймеров.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74100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GameTranslator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5924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Решение для внутриигрового перевода на базе ИИ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697</Words>
  <Application>Microsoft Office PowerPoint</Application>
  <PresentationFormat>Произвольный</PresentationFormat>
  <Paragraphs>134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Noto Serif SC Light</vt:lpstr>
      <vt:lpstr>Calibri</vt:lpstr>
      <vt:lpstr>Noto Serif SC Bold</vt:lpstr>
      <vt:lpstr>Geist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Андрей Хаустов</cp:lastModifiedBy>
  <cp:revision>9</cp:revision>
  <dcterms:created xsi:type="dcterms:W3CDTF">2026-03-12T11:21:48Z</dcterms:created>
  <dcterms:modified xsi:type="dcterms:W3CDTF">2026-03-12T12:30:33Z</dcterms:modified>
</cp:coreProperties>
</file>