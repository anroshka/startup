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Inter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51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69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77064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LiftSense — Предиктивная диагностика лифтов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5300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интернета вещей (IoT) для предсказания поломок и продления срока службы лифтов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6518672"/>
            <a:ext cx="2210633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878" y="6641068"/>
            <a:ext cx="181451" cy="1814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2055" y="6586657"/>
            <a:ext cx="166628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МОНИТОРИНГ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117771" y="6511052"/>
            <a:ext cx="370463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1479" y="6641068"/>
            <a:ext cx="181451" cy="1814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56" y="6586657"/>
            <a:ext cx="314503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ПРЕДИКТИВНОЕ ОБСЛУЖИВАНИЕ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19469"/>
            <a:ext cx="104605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800" b="1" i="0" dirty="0">
                <a:solidFill>
                  <a:srgbClr val="0F1115"/>
                </a:solidFill>
                <a:effectLst/>
                <a:latin typeface="quote-cjk-patch"/>
              </a:rPr>
              <a:t>Когда лифт встал — уже поздно</a:t>
            </a:r>
            <a:endParaRPr lang="ru-RU" sz="4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818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Аварийная остановка лифта в многоэтажке — это сотни жалоб жильцов и экстренный выезд бригады. Текущий сервис — «реактивный»: чиним, когда уже сломалось.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62832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Замена двигателя или троса обходится в десятки раз дороже профилактики.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прозрачности: никто не знает реальный износ узлов, пока не станет поздно.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Высокие риски аварийности и простоев оборудования.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8057" y="1556147"/>
            <a:ext cx="7847886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50"/>
              </a:lnSpc>
            </a:pPr>
            <a:r>
              <a:rPr lang="ru-RU" sz="3600" b="1" i="0" dirty="0">
                <a:solidFill>
                  <a:srgbClr val="0F1115"/>
                </a:solidFill>
                <a:effectLst/>
                <a:latin typeface="quote-cjk-patch"/>
              </a:rPr>
              <a:t>Мы знаем, что сломается через две недели</a:t>
            </a:r>
            <a:endParaRPr lang="ru-RU" sz="3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8057" y="2940129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48057" y="3231833"/>
            <a:ext cx="3848338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648057" y="3370064"/>
            <a:ext cx="2356961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Установка датчиков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8057" y="3749993"/>
            <a:ext cx="3848338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Мы устанавливаем компактные датчики на критически важные узлы лифта.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47486" y="2940129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647486" y="3231833"/>
            <a:ext cx="384845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4647486" y="3370064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Сбор телеметрии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47486" y="3749993"/>
            <a:ext cx="3848457" cy="537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в реальном времени собирает телеметрию и отправляет в облако.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8057" y="4577834"/>
            <a:ext cx="18514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8057" y="4869537"/>
            <a:ext cx="784788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648057" y="5007769"/>
            <a:ext cx="263080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Предиктивный анализ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8057" y="5387697"/>
            <a:ext cx="7847886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Алгоритмы машинного обучения анализируют данные и заранее предупреждают: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25711" y="5826681"/>
            <a:ext cx="7570232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'Через 2 недели потребуется замена подшипника'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8057" y="5826681"/>
            <a:ext cx="22860" cy="268962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5"/>
          <p:cNvSpPr/>
          <p:nvPr/>
        </p:nvSpPr>
        <p:spPr>
          <a:xfrm>
            <a:off x="648057" y="6265664"/>
            <a:ext cx="7847886" cy="268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8266" y="842248"/>
            <a:ext cx="9381325" cy="66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/>
            <a:r>
              <a:rPr lang="ru-RU" sz="3800" b="1" i="0" dirty="0">
                <a:solidFill>
                  <a:srgbClr val="0F1115"/>
                </a:solidFill>
                <a:effectLst/>
                <a:latin typeface="quote-cjk-patch"/>
              </a:rPr>
              <a:t>Просто поставили датчики — и всё видно</a:t>
            </a:r>
            <a:endParaRPr lang="ru-RU" sz="3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0331" y="1825585"/>
            <a:ext cx="211455" cy="21145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40331" y="2135743"/>
            <a:ext cx="3732967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2"/>
          <p:cNvSpPr/>
          <p:nvPr/>
        </p:nvSpPr>
        <p:spPr>
          <a:xfrm>
            <a:off x="740331" y="2287191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Сбор данных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740331" y="2736056"/>
            <a:ext cx="3732967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Датчики измеряют: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40331" y="3181469"/>
            <a:ext cx="3732967" cy="2100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Силу натяжения и микровибрации троса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Температуру обмоток двигателя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Скорость вращения (обороты) и рывки при старте/торможении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0584" y="1825585"/>
            <a:ext cx="211455" cy="21145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670584" y="2135743"/>
            <a:ext cx="3733086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6"/>
          <p:cNvSpPr/>
          <p:nvPr/>
        </p:nvSpPr>
        <p:spPr>
          <a:xfrm>
            <a:off x="4670584" y="2287191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Передача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4670584" y="2736056"/>
            <a:ext cx="3733086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 через GSM/NB-IoT уходят на наш сервер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331" y="5664041"/>
            <a:ext cx="211455" cy="21145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40331" y="5974199"/>
            <a:ext cx="7663339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9"/>
          <p:cNvSpPr/>
          <p:nvPr/>
        </p:nvSpPr>
        <p:spPr>
          <a:xfrm>
            <a:off x="740331" y="6125647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Аналитика</a:t>
            </a:r>
            <a:endParaRPr lang="en-US" sz="2050" dirty="0"/>
          </a:p>
        </p:txBody>
      </p:sp>
      <p:sp>
        <p:nvSpPr>
          <p:cNvPr id="16" name="Text 10"/>
          <p:cNvSpPr/>
          <p:nvPr/>
        </p:nvSpPr>
        <p:spPr>
          <a:xfrm>
            <a:off x="740331" y="6574512"/>
            <a:ext cx="7663339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Цифровой двойник лифта сравнивает текущие параметры с эталонными и выявляет аномалии, характерные для износа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02499"/>
            <a:ext cx="99140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/>
              <a:t>Спокойствие для жильцов и инженеров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851440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5085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Для УК/ТСЖ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557629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Переход от "аварийного" ремонта к "планово-предупредительному". Это экономия до 40% бюджета.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851440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51396" y="5085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Для жильцов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1396" y="5576292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Меньше поломок и простоев. Безопасность подтверждена цифрами.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4851440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4568" y="5085874"/>
            <a:ext cx="31089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Для бригад лифтеров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4568" y="557629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Четкое ТЗ на ремонт (сразу знаем, какой датчик менять), не нужно ехать на осмотр "просто посмотреть".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9901" y="1798915"/>
            <a:ext cx="11057334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00"/>
              </a:lnSpc>
            </a:pPr>
            <a:r>
              <a:rPr lang="ru-RU" sz="3600" b="1" i="0" dirty="0">
                <a:solidFill>
                  <a:srgbClr val="0F1115"/>
                </a:solidFill>
                <a:effectLst/>
                <a:latin typeface="quote-cjk-patch"/>
              </a:rPr>
              <a:t>Ремонтируй вовремя, а не срочно</a:t>
            </a:r>
            <a:endParaRPr lang="ru-RU" sz="36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09901" y="2646164"/>
            <a:ext cx="12410480" cy="3784402"/>
          </a:xfrm>
          <a:prstGeom prst="roundRect">
            <a:avLst>
              <a:gd name="adj" fmla="val 199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7521" y="2653784"/>
            <a:ext cx="12395240" cy="444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97662" y="2746891"/>
            <a:ext cx="273534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00193" y="2746891"/>
            <a:ext cx="273153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Обычные счетчики циклов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913" y="2746891"/>
            <a:ext cx="273153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Плановые ТО (раз в месяц)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97634" y="2746891"/>
            <a:ext cx="273534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LiftSense (Мы)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17521" y="3098006"/>
            <a:ext cx="12395240" cy="7022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97662" y="3191113"/>
            <a:ext cx="273534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 мониторинга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00193" y="3191113"/>
            <a:ext cx="273153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Базовый (только количество поездок)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913" y="3191113"/>
            <a:ext cx="273153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Ограниченный (по графику, без учета состояния)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97634" y="3191113"/>
            <a:ext cx="273534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Непрерывный, в реальном времени (IoT)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17521" y="3800237"/>
            <a:ext cx="12395240" cy="9602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97662" y="3893344"/>
            <a:ext cx="273534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меряем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00193" y="3893344"/>
            <a:ext cx="273153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Количество стартов/остановок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913" y="3893344"/>
            <a:ext cx="273153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Осмотр узлов по регламенту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97634" y="3893344"/>
            <a:ext cx="2735342" cy="7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Вибрации, температура, натяжение троса, скорость, рывки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117521" y="4760476"/>
            <a:ext cx="12395240" cy="70223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97662" y="4853583"/>
            <a:ext cx="273534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Прогноз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00193" y="4853583"/>
            <a:ext cx="273153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Отсутствует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913" y="4853583"/>
            <a:ext cx="273153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Частичный (по опыту механика)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97634" y="4853583"/>
            <a:ext cx="273534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Точный (ИИ предупреждает заранее о поломках и износе)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17521" y="5462707"/>
            <a:ext cx="12395240" cy="9602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97662" y="5555813"/>
            <a:ext cx="2735342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Реакция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00193" y="5555813"/>
            <a:ext cx="273153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Аварийная (чиним, когда сломалось)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913" y="5555813"/>
            <a:ext cx="2731532" cy="51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Реактивная (после поломки или планового визита)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97634" y="5555813"/>
            <a:ext cx="2735342" cy="77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Предиктивная (предупреждение, планово-предупредительный ремонт)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746" y="1148596"/>
            <a:ext cx="7880509" cy="1128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ru-RU" sz="3600" b="1" i="0" dirty="0">
                <a:solidFill>
                  <a:srgbClr val="0F1115"/>
                </a:solidFill>
                <a:effectLst/>
                <a:latin typeface="quote-cjk-patch"/>
              </a:rPr>
              <a:t>Кому это надо?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1746" y="2492335"/>
            <a:ext cx="7880509" cy="1293495"/>
          </a:xfrm>
          <a:prstGeom prst="roundRect">
            <a:avLst>
              <a:gd name="adj" fmla="val 848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886" y="2492335"/>
            <a:ext cx="91440" cy="1293495"/>
          </a:xfrm>
          <a:prstGeom prst="roundRect">
            <a:avLst>
              <a:gd name="adj" fmla="val 82919"/>
            </a:avLst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903684" y="2695694"/>
            <a:ext cx="22564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Целевой сегмент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03684" y="3063835"/>
            <a:ext cx="7405211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Управляющие компании (УК), ТСЖ, операторы коммерческой недвижимости (ТЦ, БЦ), владельцы коттеджей с лифтами.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1746" y="3929420"/>
            <a:ext cx="7880509" cy="1293495"/>
          </a:xfrm>
          <a:prstGeom prst="roundRect">
            <a:avLst>
              <a:gd name="adj" fmla="val 848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8886" y="3929420"/>
            <a:ext cx="91440" cy="1293495"/>
          </a:xfrm>
          <a:prstGeom prst="roundRect">
            <a:avLst>
              <a:gd name="adj" fmla="val 82919"/>
            </a:avLst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903684" y="4132778"/>
            <a:ext cx="22564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Рынок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03684" y="4500920"/>
            <a:ext cx="7405211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Тысячи лифтов в России, отработавших нормативный срок (25+ лет), которые особенно уязвимы.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1746" y="5366504"/>
            <a:ext cx="7880509" cy="1714381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886" y="5366504"/>
            <a:ext cx="91440" cy="1714381"/>
          </a:xfrm>
          <a:prstGeom prst="roundRect">
            <a:avLst>
              <a:gd name="adj" fmla="val 82919"/>
            </a:avLst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903684" y="5569863"/>
            <a:ext cx="2586157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JTBD (Jobs to be Done)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174433" y="6013371"/>
            <a:ext cx="7134463" cy="777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"Я отвечаю за безопасность в доме и хочу получать честные данные о состоянии лифта, чтобы не собирать жильцов на срочные собрания из-за внезапных поломок".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03684" y="6013371"/>
            <a:ext cx="22860" cy="777954"/>
          </a:xfrm>
          <a:prstGeom prst="rect">
            <a:avLst/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49368" y="1381839"/>
            <a:ext cx="66911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/>
            <a:r>
              <a:rPr lang="ru-RU" sz="3800" b="1" i="0" dirty="0">
                <a:solidFill>
                  <a:srgbClr val="0F1115"/>
                </a:solidFill>
                <a:effectLst/>
                <a:latin typeface="quote-cjk-patch"/>
              </a:rPr>
              <a:t>Что уже работает и сколько сэкономили</a:t>
            </a:r>
            <a:endParaRPr lang="ru-RU" sz="3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49710" y="2400300"/>
            <a:ext cx="60960" cy="2365891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2"/>
          <p:cNvSpPr/>
          <p:nvPr/>
        </p:nvSpPr>
        <p:spPr>
          <a:xfrm>
            <a:off x="6567964" y="24307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Стадия: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7964" y="2921198"/>
            <a:ext cx="334863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 прототип датчика и архитектура ПО. Проведены первые замеры на действующем лифте (пилот).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69604" y="2400300"/>
            <a:ext cx="60960" cy="2365891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10487858" y="24307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North Star Metric: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87858" y="2921198"/>
            <a:ext cx="33487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Снижение количества внеплановых простоев лифта (часов простоя) на объектах клиентов.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49710" y="5158859"/>
            <a:ext cx="60960" cy="1719382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6567964" y="5189339"/>
            <a:ext cx="32673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Технические метрики: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67964" y="5679758"/>
            <a:ext cx="7268647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Точность прогноза остаточного ресурса (цель: погрешность не более 10%)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Время автономной работы датчиков (цель: 3+ года)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130" y="1469350"/>
            <a:ext cx="5472946" cy="416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Как зарабатываем и что дальше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66130" y="2081093"/>
            <a:ext cx="1665089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Монетизация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66130" y="2367439"/>
            <a:ext cx="3943469" cy="53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Продажа комплекта датчиков (железо)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Ежемесячная подписка на аналитическую платформу и SMS/Telegram-оповещения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742021" y="2081093"/>
            <a:ext cx="1665089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Стратегия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42021" y="2367439"/>
            <a:ext cx="3943469" cy="53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B2B-продажи через отраслевые выставки и прямые переговоры с управляющими компаниями.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Партнерство с сервисными лифтовыми компаниями.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66130" y="3046452"/>
            <a:ext cx="1998107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Роадмап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66130" y="3413403"/>
            <a:ext cx="133112" cy="166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130" y="3624382"/>
            <a:ext cx="821174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466130" y="3721418"/>
            <a:ext cx="2426494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Запуск пилотных внедрений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130" y="3976449"/>
            <a:ext cx="8211741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10 лифтах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6130" y="4323636"/>
            <a:ext cx="133112" cy="166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130" y="4534614"/>
            <a:ext cx="821174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466130" y="4631650"/>
            <a:ext cx="1853922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Сбор базы "поломок"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6130" y="4886682"/>
            <a:ext cx="8211741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обучения нейросети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66130" y="5233868"/>
            <a:ext cx="133112" cy="166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130" y="5444847"/>
            <a:ext cx="821174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466130" y="5541883"/>
            <a:ext cx="2496979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Сертификация оборудования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66130" y="5928122"/>
            <a:ext cx="133112" cy="166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130" y="6139101"/>
            <a:ext cx="8211741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19"/>
          <p:cNvSpPr/>
          <p:nvPr/>
        </p:nvSpPr>
        <p:spPr>
          <a:xfrm>
            <a:off x="466130" y="6236137"/>
            <a:ext cx="1665089" cy="208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Масштабирование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66130" y="6491168"/>
            <a:ext cx="8211741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коммерческую недвижимость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585</Words>
  <Application>Microsoft Office PowerPoint</Application>
  <PresentationFormat>Произвольный</PresentationFormat>
  <Paragraphs>100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Inter Light</vt:lpstr>
      <vt:lpstr>Calibri</vt:lpstr>
      <vt:lpstr>quote-cjk-patch</vt:lpstr>
      <vt:lpstr>Inter Bold</vt:lpstr>
      <vt:lpstr>Inter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Андрей Хаустов</cp:lastModifiedBy>
  <cp:revision>2</cp:revision>
  <dcterms:created xsi:type="dcterms:W3CDTF">2026-03-11T14:30:12Z</dcterms:created>
  <dcterms:modified xsi:type="dcterms:W3CDTF">2026-03-12T09:42:44Z</dcterms:modified>
</cp:coreProperties>
</file>